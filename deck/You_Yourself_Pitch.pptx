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 real case study: hallucination signs present (of 21 checked)</c:v>
                </c:pt>
              </c:strCache>
            </c:strRef>
          </c:tx>
          <c:spPr>
            <a:solidFill>
              <a:srgbClr val="F5C04E"/>
            </a:solidFill>
          </c:spPr>
          <c:cat>
            <c:strRef>
              <c:f>Sheet1!$A$2:$A$5</c:f>
              <c:strCache>
                <c:ptCount val="4"/>
                <c:pt idx="0">
                  <c:v>Before</c:v>
                </c:pt>
                <c:pt idx="1">
                  <c:v>Day 1</c:v>
                </c:pt>
                <c:pt idx="2">
                  <c:v>Day 2</c:v>
                </c:pt>
                <c:pt idx="3">
                  <c:v>Day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5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F6F4E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AA8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quiet. Pause after the first line. Do not say ‘cure’. We are an aid that helps a person decide where a voice might come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 plainly: Senja is a fictional character; the science and the drawing-therapy data are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Fictional scene. Voices and shadows like these are common experiences in schizophrenia.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9 → 5 → 3 → 1 data is from the published case report, not from Senja (who is fictional).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bridge. Drawing externalises emotion. You, Yourself externalises one specific signal: the speech muscles.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caveat out loud: not every voice is inner speech. That is why this is a per-person test with a clinician.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Indonesia context from the manuscript: limited community services, pasung still used, pluralistic help-seeking.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 not repair the brain’s signal; that would need stimulation we cannot do. We add an outside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this live. Order: Calibrate (3 s) → Silent murmur → I hear a voice. Then tick ‘Someone talks nearby’ and repeat to show the other verdict. Backup: the recorded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Wiring rules: MyoWare at 3.3 V, ADC1 pin, NPN + flyback diode for the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credibility slide. Judges rarely see a team falsify its own first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Judges respect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clinical claims until Stage 3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story. Senja is fictional; the feeling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HACKATHON PITCH · MENTAL HEALTH ×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7200" b="1">
                <a:solidFill>
                  <a:srgbClr val="F6F4EE"/>
                </a:solidFill>
                <a:latin typeface="Georgia"/>
              </a:rPr>
              <a:t>You,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F5C04E"/>
                </a:solidFill>
                <a:latin typeface="Calibri"/>
              </a:rPr>
              <a:t>INI AKU — “it’s me”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0">
                <a:solidFill>
                  <a:srgbClr val="F6F4EE"/>
                </a:solidFill>
                <a:latin typeface="Georgia"/>
              </a:rPr>
              <a:t>Schizophrenia can break the brain’s “this is me” signal.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F6F4EE"/>
                </a:solidFill>
                <a:latin typeface="Georgia"/>
              </a:rPr>
              <a:t>We built an outside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5C04E"/>
                </a:solidFill>
                <a:latin typeface="Calibri"/>
              </a:rPr>
              <a:t>Watch the 3-minute film → you-yourself.vercel.app/film/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MEET SENJA · A FICTIONAL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6F4EE"/>
                </a:solidFill>
                <a:latin typeface="Georgia"/>
              </a:rPr>
              <a:t>She had no one to tell.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9692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6F4EE"/>
                </a:solidFill>
                <a:latin typeface="Calibri"/>
              </a:rPr>
              <a:t>Senja is a young teacher in West Java. She stays late every day, and her family leans on her.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6F4EE"/>
                </a:solidFill>
                <a:latin typeface="Calibri"/>
              </a:rPr>
              <a:t>Lessons, exams, a school event, the bills at home. Lately, it has all been too much.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6F4EE"/>
                </a:solidFill>
                <a:latin typeface="Calibri"/>
              </a:rPr>
              <a:t>And she has no one to tell.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AAA8C8"/>
                </a:solidFill>
                <a:latin typeface="Calibri"/>
              </a:rPr>
              <a:t>Senja is fictional. Her story reflects what many people who hear voices live with.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WHAT SHE HEARD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6F4EE"/>
                </a:solidFill>
                <a:latin typeface="Georgia"/>
              </a:rPr>
              <a:t>“Ayo pulang.” Come home.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F5C04E"/>
                </a:solidFill>
                <a:latin typeface="Georgia"/>
              </a:rPr>
              <a:t>“Ayo pulang.”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9692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6F4EE"/>
                </a:solidFill>
                <a:latin typeface="Calibri"/>
              </a:rPr>
              <a:t>Then the whispers begin. “Ayo pulang” — come home. Again, and again.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6F4EE"/>
                </a:solidFill>
                <a:latin typeface="Calibri"/>
              </a:rPr>
              <a:t>A black shadow walks toward her. She covers her ears.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6F4EE"/>
                </a:solidFill>
                <a:latin typeface="Calibri"/>
              </a:rPr>
              <a:t>Her family brings her to a hospital, where her nurses try something simple: paper, and a box of crayons.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THREE DAYS, ONE BOX OF CRAYONS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6F4EE"/>
                </a:solidFill>
                <a:latin typeface="Georgia"/>
              </a:rPr>
              <a:t>On day three she drew home.</a:t>
            </a:r>
          </a:p>
        </p:txBody>
      </p:sp>
      <p:pic>
        <p:nvPicPr>
          <p:cNvPr id="4" name="Picture 3" descr="dra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3200400" cy="226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0233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>
                <a:solidFill>
                  <a:srgbClr val="D6D4EA"/>
                </a:solidFill>
                <a:latin typeface="Calibri"/>
              </a:rPr>
              <a:t>Day 1 · a tangled ball of black thread. She said it meant everything was piled up and tangled, and she didn’t know how to cope.</a:t>
            </a:r>
          </a:p>
        </p:txBody>
      </p:sp>
      <p:pic>
        <p:nvPicPr>
          <p:cNvPr id="6" name="Picture 5" descr="draw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54480"/>
            <a:ext cx="3200400" cy="226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40233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>
                <a:solidFill>
                  <a:srgbClr val="D6D4EA"/>
                </a:solidFill>
                <a:latin typeface="Calibri"/>
              </a:rPr>
              <a:t>Day 2 · the room she sat in, in careful detail. Her focus was coming back.</a:t>
            </a:r>
          </a:p>
        </p:txBody>
      </p:sp>
      <p:pic>
        <p:nvPicPr>
          <p:cNvPr id="8" name="Picture 7" descr="draw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554480"/>
            <a:ext cx="3200400" cy="226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40233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>
                <a:solidFill>
                  <a:srgbClr val="D6D4EA"/>
                </a:solidFill>
                <a:latin typeface="Calibri"/>
              </a:rPr>
              <a:t>Day 3 · the mountains she used to draw as a child, with her parents. She said she missed her family’s harmony.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4983480"/>
          <a:ext cx="5486400" cy="1371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5394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A8C8"/>
                </a:solidFill>
                <a:latin typeface="Calibri"/>
              </a:rPr>
              <a:t>A real case study: hallucination signs present (of 21 checked)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AAA8C8"/>
                </a:solidFill>
                <a:latin typeface="Calibri"/>
              </a:rPr>
              <a:t>Drawings are illustrations from the film. The numbers come from a real 2025 case report (Amelia, Rafiyah &amp; Widianti, SINERGI 2(2)): one patient, no control group — encouraging, not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WHAT DRAWING GAVE 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5200" b="1">
                <a:solidFill>
                  <a:srgbClr val="F6F4EE"/>
                </a:solidFill>
                <a:latin typeface="Georgia"/>
              </a:rPr>
              <a:t>It put the inside, outside.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9692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F6F4EE"/>
                </a:solidFill>
                <a:latin typeface="Calibri"/>
              </a:rPr>
              <a:t>Her feelings had no outlet, so they stayed inside, where they were loud. The page made them visible, and that gave her a sense of control.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F6F4EE"/>
                </a:solidFill>
                <a:latin typeface="Calibri"/>
              </a:rPr>
              <a:t>So we asked: what if the voice itself had something you could see? An outside signal that says whether a voice comes from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THE SCIENCE, AND THE 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6F4EE"/>
                </a:solidFill>
                <a:latin typeface="Georgia"/>
              </a:rPr>
              <a:t>Some voices may be your own inner speech.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F5C04E"/>
                </a:solidFill>
                <a:latin typeface="Georgia"/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CFCDE6"/>
                </a:solidFill>
                <a:latin typeface="Calibri"/>
              </a:rPr>
              <a:t>people in the 2025 EEG study. Those hearing voices showed an enhanced, not reduced, auditory response to sounds matching their inner speech. (Whitford et al.)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F5C04E"/>
                </a:solidFill>
                <a:latin typeface="Georgia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26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CFCDE6"/>
                </a:solidFill>
                <a:latin typeface="Calibri"/>
              </a:rPr>
              <a:t>patients with more lip-muscle activity during silent voices. (Rapin et al. 2013)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0116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F5C04E"/>
                </a:solidFill>
                <a:latin typeface="Georgia"/>
              </a:rPr>
              <a:t>59%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926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CFCDE6"/>
                </a:solidFill>
                <a:latin typeface="Calibri"/>
              </a:rPr>
              <a:t>fewer reported voices while humming, in a small 1990 study of 20 patients. (Green &amp; Kinsbourne)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The brain normally sends a copy signal when you speak, even silently, that tags the sound as yours. If it is weak, your own inner speech can sound like someone else.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But 39% of voice-hearers describe voices as replayed memories, and the muscle evidence is small and mixed. So the device tests this for each person. It never assumes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WHY IT MATTERS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6F4EE"/>
                </a:solidFill>
                <a:latin typeface="Georgia"/>
              </a:rPr>
              <a:t>Millions hear voices. Few get a tool that is theirs.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F5C04E"/>
                </a:solidFill>
                <a:latin typeface="Georgia"/>
              </a:rPr>
              <a:t>24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CFCDE6"/>
                </a:solidFill>
                <a:latin typeface="Calibri"/>
              </a:rPr>
              <a:t>people live with schizophrenia worldwide, about 1 in 300 (WHO 2022)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F5C04E"/>
                </a:solidFill>
                <a:latin typeface="Georgia"/>
              </a:rPr>
              <a:t>7 / 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26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CFCDE6"/>
                </a:solidFill>
                <a:latin typeface="Calibri"/>
              </a:rPr>
              <a:t>schizophrenia prevalence in Indonesia (Riskesdas 2018)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0116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F5C04E"/>
                </a:solidFill>
                <a:latin typeface="Georgia"/>
              </a:rPr>
              <a:t>~70%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926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CFCDE6"/>
                </a:solidFill>
                <a:latin typeface="Calibri"/>
              </a:rPr>
              <a:t>of people with schizophrenia hear voices; up to 30% do not respond to current 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Medication helps many, but not all. Therapy needs scarce specialists. Nobody hands a voice-hearer personal, objective evidence about where a voice might come from.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Our target is low-resource settings: a phone, a few parts, no scanner.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6F4EE"/>
                </a:solidFill>
                <a:latin typeface="Georgia"/>
              </a:rPr>
              <a:t>When a voice shows up, check two channels.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Inside: a lip-muscle sensor (MyoWare 2.0 + ESP32) sees silent speech-muscle activity.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Outside: the phone microphone checks whether anyone nearby is actually speaking, on-device, nothing recorded.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Then one gentle verdict, never “definitely”, a two-tap vibration and a 30-second humming coach.</a:t>
            </a:r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11680"/>
            <a:ext cx="6126480" cy="36939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6F4EE"/>
                </a:solidFill>
                <a:latin typeface="Georgia"/>
              </a:rPr>
              <a:t>Calibrate. Murmur. Press “I hear a voice.”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Runs the real detector.js: personal baseline, then speech-motor activity vs chewing vs swallowing.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Verdict: “Probably your own inner speech.” → hum coach.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Try it: open the workboard → Simulator, or plug in the wearable over Bluetooth.</a:t>
            </a:r>
          </a:p>
        </p:txBody>
      </p:sp>
      <p:pic>
        <p:nvPicPr>
          <p:cNvPr id="5" name="Picture 4" descr="demo-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11680"/>
            <a:ext cx="6126480" cy="43245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C04E"/>
                </a:solidFill>
                <a:latin typeface="Calibri"/>
              </a:rPr>
              <a:t>Open the live demo → you-yourself.vercel.app/#sim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IT IS BUILDABLE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6F4EE"/>
                </a:solidFill>
                <a:latin typeface="Georgia"/>
              </a:rPr>
              <a:t>A wearable for about Rp 0.6–1 million.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MyoWare 2.0, ESP32, a coin motor, electrodes and a LiPo: Rp 610,000–1,050,000 (marketplace estimates).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Our Virtual Breadboard simulates the exact circuit and runs the real detector, so judges can inspect every wire.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Firmware is written (1 kHz → 100 Hz, BLE, haptics) but not yet flashed on a board. We say so.</a:t>
            </a:r>
          </a:p>
        </p:txBody>
      </p:sp>
      <p:pic>
        <p:nvPicPr>
          <p:cNvPr id="5" name="Picture 4" descr="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11680"/>
            <a:ext cx="6126480" cy="43245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C04E"/>
                </a:solidFill>
                <a:latin typeface="Calibri"/>
              </a:rPr>
              <a:t>Open the Breadboard IDE → you-yourself.vercel.app/ide.html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WE TESTED OUR OWN MATHS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6F4EE"/>
                </a:solidFill>
                <a:latin typeface="Georgia"/>
              </a:rPr>
              <a:t>The obvious test lies. We caught it before any patient.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F5C04E"/>
                </a:solidFill>
                <a:latin typeface="Georgia"/>
              </a:rPr>
              <a:t>85–100%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CFCDE6"/>
                </a:solidFill>
                <a:latin typeface="Calibri"/>
              </a:rPr>
              <a:t>false positives from the naive “any muscle burst near the report” test when a button-press artefact exists, with no real coupling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F5C04E"/>
                </a:solidFill>
                <a:latin typeface="Georgia"/>
              </a:rPr>
              <a:t>4.8–6.3%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26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CFCDE6"/>
                </a:solidFill>
                <a:latin typeface="Calibri"/>
              </a:rPr>
              <a:t>false positives with our within-episode permutation test, across 16 null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0116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F5C04E"/>
                </a:solidFill>
                <a:latin typeface="Georgia"/>
              </a:rPr>
              <a:t>≥ 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926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CFCDE6"/>
                </a:solidFill>
                <a:latin typeface="Calibri"/>
              </a:rPr>
              <a:t>power with 20 episodes when half the voices are coupled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A button press moves muscles too. Naively, “7 of 10 voices matched your muscles” appears with no coupling at all.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6F4EE"/>
                </a:solidFill>
                <a:latin typeface="Calibri"/>
              </a:rPr>
              <a:t>So our analysis plan compares each voice with the same person’s other moments and excludes the press. All numbers are from simulation; no human data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AAA8C8"/>
                </a:solidFill>
                <a:latin typeface="Calibri"/>
              </a:rPr>
              <a:t>EchoSelf manuscript v2, in-silico validation (16 null and 24 alternative scenarios).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SAID UPFRONT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6F4EE"/>
                </a:solidFill>
                <a:latin typeface="Georgia"/>
              </a:rPr>
              <a:t>What this is not.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7568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5C04E"/>
                </a:solidFill>
                <a:latin typeface="Georgia"/>
              </a:rPr>
              <a:t>Not a cure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9397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6F4EE"/>
                </a:solidFill>
                <a:latin typeface="Calibri"/>
              </a:rPr>
              <a:t>An aid that supports medication and clinicians. It never replaces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34639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443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5C04E"/>
                </a:solidFill>
                <a:latin typeface="Georgia"/>
              </a:rPr>
              <a:t>Not every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6265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6F4EE"/>
                </a:solidFill>
                <a:latin typeface="Calibri"/>
              </a:rPr>
              <a:t>Many voices are not inner speech. We screen, and the app says “probably”, never “definitely”.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130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5C04E"/>
                </a:solidFill>
                <a:latin typeface="Georgia"/>
              </a:rPr>
              <a:t>Small, old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831335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6F4EE"/>
                </a:solidFill>
                <a:latin typeface="Calibri"/>
              </a:rPr>
              <a:t>Humming and lip-EMG findings come from small studies. This is a tool to test properly, not a proven therapy.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72000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817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5C04E"/>
                </a:solidFill>
                <a:latin typeface="Georgia"/>
              </a:rPr>
              <a:t>Private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70001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6F4EE"/>
                </a:solidFill>
                <a:latin typeface="Calibri"/>
              </a:rPr>
              <a:t>On-device only. No cloud. No audio recorded.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440679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550407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5C04E"/>
                </a:solidFill>
                <a:latin typeface="Georgia"/>
              </a:rPr>
              <a:t>Built with voice-hearers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568695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6F4EE"/>
                </a:solidFill>
                <a:latin typeface="Calibri"/>
              </a:rPr>
              <a:t>Some find their voices meaningful. The wording is co-designed and never dismissive.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6F4EE"/>
                </a:solidFill>
                <a:latin typeface="Georgia"/>
              </a:rPr>
              <a:t>Ethics first, then people.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7568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5C04E"/>
                </a:solidFill>
                <a:latin typeface="Georgia"/>
              </a:rPr>
              <a:t>Now · 4-day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9397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6F4EE"/>
                </a:solidFill>
                <a:latin typeface="Calibri"/>
              </a:rPr>
              <a:t>Flash firmware → live graph → calibrate on 3 people → verdict, hum coach, diary → rehearse.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34639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443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5C04E"/>
                </a:solidFill>
                <a:latin typeface="Georgia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6265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6F4EE"/>
                </a:solidFill>
                <a:latin typeface="Calibri"/>
              </a:rPr>
              <a:t>Bench and healthy-volunteer validation of detection accuracy and latency.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130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5C04E"/>
                </a:solidFill>
                <a:latin typeface="Georgia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831335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6F4EE"/>
                </a:solidFill>
                <a:latin typeface="Calibri"/>
              </a:rPr>
              <a:t>Usability testing and co-design with a lived-experience panel.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72000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817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5C04E"/>
                </a:solidFill>
                <a:latin typeface="Georgia"/>
              </a:rP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70001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6F4EE"/>
                </a:solidFill>
                <a:latin typeface="Calibri"/>
              </a:rPr>
              <a:t>With ethics approval: single-case A–B–A–B study in voice-hearers.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440679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D1D3A"/>
          </a:solidFill>
          <a:ln>
            <a:solidFill>
              <a:srgbClr val="35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550407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5C04E"/>
                </a:solidFill>
                <a:latin typeface="Georgia"/>
              </a:rPr>
              <a:t>Stage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568695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6F4EE"/>
                </a:solidFill>
                <a:latin typeface="Calibri"/>
              </a:rPr>
              <a:t>Sham-feedback controlled pilot, with a partner lab for inner-speech EEG.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SAY IT LOUDER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5000" b="1">
                <a:solidFill>
                  <a:srgbClr val="F6F4EE"/>
                </a:solidFill>
                <a:latin typeface="Georgia"/>
              </a:rPr>
              <a:t>Senja found her way home with crayons.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F5C04E"/>
                </a:solidFill>
                <a:latin typeface="Calibri"/>
              </a:rPr>
              <a:t>You,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0">
                <a:solidFill>
                  <a:srgbClr val="F6F4EE"/>
                </a:solidFill>
                <a:latin typeface="Georgia"/>
              </a:rPr>
              <a:t>We want every voice-hearer to have a way to see where the voice comes from, and someone to tell.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F6F4EE"/>
                </a:solidFill>
                <a:latin typeface="Georgia"/>
              </a:rPr>
              <a:t>Ayo pulang. Come home, to yourself.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5C04E"/>
                </a:solidFill>
                <a:latin typeface="Calibri"/>
              </a:rPr>
              <a:t>Open the live demo → you-yourself.vercel.app/#sim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5C04E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6F4EE"/>
                </a:solidFill>
                <a:latin typeface="Georgia"/>
              </a:rPr>
              <a:t>Evidence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>
                <a:solidFill>
                  <a:srgbClr val="E4E2F2"/>
                </a:solidFill>
                <a:latin typeface="Calibri"/>
              </a:rPr>
              <a:t>1. Amelia GS, Rafiyah I, Widianti E. Penerapan intervensi menggambar pada pasien skizofrenia dengan halusinasi penglihatan dan pendengaran: case report. SINERGI Jurnal Riset Ilmiah 2(2):730–742, 2025. doi:10.62335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E4E2F2"/>
                </a:solidFill>
                <a:latin typeface="Calibri"/>
              </a:rPr>
              <a:t>2. Whitford TJ et al. Corollary discharge dysfunction to inner speech and auditory verbal hallucinations. Schizophr Bull 2025. doi:10.1093/schbul/sbaf167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E4E2F2"/>
                </a:solidFill>
                <a:latin typeface="Calibri"/>
              </a:rPr>
              <a:t>3. Whitford TJ et al. Mechanisms of inner speaking-induced suppression. eNeuro 2026. doi:10.1523/ENEURO.0047-26.2026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E4E2F2"/>
                </a:solidFill>
                <a:latin typeface="Calibri"/>
              </a:rPr>
              <a:t>4. Rapin L et al. EMG of the lip muscles during covert auditory verbal hallucinations. J Speech Lang Hear Res 2013. doi:10.1044/1092-4388(2013/12-0210)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E4E2F2"/>
                </a:solidFill>
                <a:latin typeface="Calibri"/>
              </a:rPr>
              <a:t>5. Green MF, Kinsbourne M. Subvocal activity and auditory hallucinations. Schizophr Bull 1990. doi:10.1093/schbul/16.4.617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E4E2F2"/>
                </a:solidFill>
                <a:latin typeface="Calibri"/>
              </a:rPr>
              <a:t>6. McCarthy-Jones S et al. Phenomenological survey of auditory hallucinations. Schizophr Bull 2014. doi:10.1093/schbul/sbs156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E4E2F2"/>
                </a:solidFill>
                <a:latin typeface="Calibri"/>
              </a:rPr>
              <a:t>7. Jack BN et al. Inner speech corollary discharge is temporally precise and content-specific. NeuroImage 2019. doi:10.1016/j.neuroimage.2019.04.038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E4E2F2"/>
                </a:solidFill>
                <a:latin typeface="Calibri"/>
              </a:rPr>
              <a:t>8. World Health Organization (2022) schizophrenia fact sheet; Kemenkes Riskesdas 2018 (as cited in the case report).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E4E2F2"/>
                </a:solidFill>
                <a:latin typeface="Calibri"/>
              </a:rPr>
              <a:t>9. EchoSelf design &amp; protocol manuscript v2 and hackathon concept notes (team documents). Hardware prices: Indonesian marketplace estimates in the workboard.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